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答辩的题目是《高校干部人事组织管理系统的设计与实现》。本系统面向学校组织人事工作，以干部档案数据为底座，覆盖干部选拔、培育、管理、使用的完整业务链条。下面我从项目介绍、技术栈、实现思路、问题与解决方案以及个人收获五个方面进行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分为五个部分。第一部分介绍项目背景、目标和整体功能；第二部分说明用到的技术栈；第三部分是重点，讲清系统的架构设计、分层链路和核心业务是如何实现的；第四部分复盘开发中遇到的六个典型问题和我的解决办法；最后总结个人收获与后续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首先进入第一部分，项目介绍。我会用四页篇幅说明系统的建设背景与意义、定位与目标、完整的功能模块全景，以及最终交付的代码规模。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立项有三方面背景：政策上，学校"十四五"规划要求治理体系现代化；现实中，传统干部人事工作存在档案分散、流程纸质、留痕困难等痛点；技术上，成熟的前后端分离技术栈让全流程线上化成为可能。其意义在于落实党管干部原则、实现业务一体化协同，并为学校党委决策提供数据支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定位是面向高校组织人事部门的一体化干部管理平台。建设方向概括为"三个一"：数据一个库、业务一条链、审批一个口。在业务范围上完整覆盖干部"选、育、管、用"闭环：选是选拔任用，育是培养锻炼，管是考核监督，用是调配和日常事务，形成完整的干部管理生命周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功能划分为七大功能域。干部管理和组织机构是数据底座；干部业务承载任免、调配、晋升等核心流程；监督考核覆盖年度考核、民主测评、平板投票和分级预警；日常事务处理证照、出境、休假等；统计分析提供可视化；系统管理负责用户、权限、字典和日志。各模块并非孤立，而是围绕干部档案互相关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这是项目最终的规模：数据库设计了 51 张表，后端有 297 个 Java 类、51 个 Controller，前端有 34 个 Vue 页面，前后端手写代码合计约 2.57 万行，划分成 10 大业务模块。工程化方面提供了接口文档、统一返回结构、一键启动脚本和演示数据，拿到新环境可以快速运行，不是一个只有页面的演示原型。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第二部分介绍技术栈。系统采用主流的前后端分离架构，我会先给出一张分层选型总览，再分别说明后端和前端每一项关键技术在项目中承担的职责。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整体技术栈按五层组织：前端展示层用 Vue 全家桶；接入层通过 Axios 和 Spring MVC 以 REST 风格通信；后端框架层基于 Spring Boot 和 Spring Security；持久层用 MyBatis-Plus 并引入动态数据源；存储层是 MySQL，Redis 作为可选缓存；另外用 Hutool、EasyExcel、Knife4j 提升开发效率。选型全部是当前主流、社区活跃的稳定方案。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后端以 Spring Boot 3 为核心。安全上用 Spring Security 加 JWT 做无状态认证；持久层用 MyBatis-Plus 简化 CRUD，并引入动态数据源实现热切换；缓存通过自建的 CacheStore 门面做到 Redis 可选、自动降级；Excel 处理用 EasyExcel；同时用 AOP 做操作日志、Knife4j 输出接口文档。这些技术组合既保证了开发效率，也兼顾了部署灵活性。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前端采用 Vue 3 组合式 API 和 Vite 构建，Element Plus 提供企业级组件，Pinia 管理全局状态，Vue Router 做登录守卫并单独开放平板投票页，ECharts 负责统计可视化，Axios 统一处理令牌和异常。整体保持政务蓝的统一视觉，交互体验接近真实办公系统。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第三部分是本次汇报的重点。我会从总体架构、分层调用链路、数据库设计，到干部任免核心流程、认证与数据权限，再到两个特色功能，讲清楚整个系统是怎么一步步实现的。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这是系统的总体架构，自上而下分为六层。终端层支持桌面浏览器和平板；前端层是 Vue3 单页应用；接入层通过 Axios 以 /api 通信并携带 JWT；后端框架层负责安全、缓存、异常和数据源；业务模块层按干部业务域分包；最底层是 MySQL 和可选 Redis。各层职责单一、向下依赖，便于独立开发和维护。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后端严格遵循 Controller、Service、Mapper、Entity 四层。Controller 只负责收发和权限约束；业务规则和事务集中在 Service；Mapper 借助 MyBatis-Plus 简化数据库操作；Entity 用注解绑定数据表，并通过 BaseEntity 统一审计字段。左侧是真实的模块调用链路图，所有模块都遵守同一套约定，代码结构清晰、便于定位问题。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数据库共 51 张表，按十个业务域组织。设计上坚持四条原则：一是以干部档案表为单一事实源，所有业务表通过 cadre_id 关联；二是用 BaseEntity 统一审计字段和逻辑删除；三是枚举值统一走国标字典；四是现状与历史分离，档案只存当前状态，业务过程单独留痕，既能快速查询又能回溯履历。左侧是 ER 图节选。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最复杂的干部任免为例，业务分为动议、民主推荐、组织考察、讨论决定、任前公示、任职备案六个阶段。设计上形成闭环：启动前先做近三年考核的资格校验；过程中六个阶段分别建表、全程留痕；任职备案后自动回写干部档案。调配和晋升也采用同样的"业务记录驱动档案状态"机制，保证全局数据一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安全上采用 JWT 无状态认证：登录签发令牌，之后每次请求携带 Bearer，由过滤器校验后放行。授权分两级：模块权限控制能不能进某个功能，按"管理员全通、单独授权优先、用户类型模板兜底"计算；数据权限控制能看到多大范围的数据，按用户类型自动收敛。此外还有登录失败锁定和操作日志，防止暴力破解并保留审计轨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这里挑两个最能体现工作量和思考的特色功能。第一是平板评审投票，解决会议现场投票的公信力问题，支持打分和表决两种形式，并用手写签名加 MD5、IP、时间戳留证，签字后不可改票。第二是数据库热切换，系统可以免重启连接不同的 MySQL，自动探测表结构、缺表甚至自动建库建表，同时通过"有表拒绝对齐、强制试连"防止误操作，体现了容错和工程化思维。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第四部分复盘开发过程中遇到的六个典型问题，涵盖数据一致性、权限模型、缓存依赖、数据库切换、现场投票防篡改和敏感数据越权，每个问题都给出了在系统中真正落地的解决方案。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三个问题。第一是跨模块数据一致性，解法是把干部档案作为单一事实源、在业务层统一回写并支持状态重算。第二是权限模型臃肿，我把角色和用户类型两套体系收敛成"内置模板加单独授权"，并拆分功能权限和数据权限。第三是 Redis 依赖问题，通过缓存门面做到有 Redis 用 Redis、没有就自动降级到内存，保证系统即开即用。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三个问题。第四是多数据库切换成本高，我用动态数据源做运行时热切换和自动建表对齐。第五是现场投票公信力，用评分加表决双模式和手写签名留证，签字即锁票。第六是敏感档案越权，通过数据权限助手在查询层自动注入可见范围，从根上避免水平越权。这些问题都不是教程里的标准题，而是在真实开发中遇到、并逐一解决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收获。通过这个项目，我在四个方面有明显成长：一是全栈工程能力，二是复杂业务建模能力，三是工程化和容错思维，四是安全与规范意识。当然系统还有不足，比如审批流程可以进一步做成可配置工作流，未来还计划做国产化数据库适配和移动端优化。我的汇报到此结束，恳请各位老师批评指正，谢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038">
                <a:alpha val="100000"/>
              </a:srgbClr>
            </a:gs>
            <a:gs pos="100000">
              <a:srgbClr val="1F3A5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57290">
            <a:off x="812853" y="1492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812800" y="1651000"/>
            <a:ext cx="914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辽宁某某大学 · </a:t>
            </a:r>
            <a:r>
              <a:rPr lang="zh-CN" altLang="en-US" sz="13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r>
              <a:rPr lang="en-US" sz="13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2260600"/>
            <a:ext cx="105664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2800" y="3251200"/>
            <a:ext cx="1056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设计与实现 —— 覆盖干部“选、育、管、用”全链条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800" y="38862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AA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3 + Vue 3 前后端分离 · 51 张数据表 · 10 大业务模块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131">
            <a:off x="812804" y="4845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12800" y="51308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</a:t>
            </a:r>
            <a:r>
              <a:rPr lang="zh-CN" alt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</a:t>
            </a:r>
            <a:r>
              <a:rPr 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刘佳霖</a:t>
            </a:r>
            <a:r>
              <a:rPr 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　</a:t>
            </a:r>
            <a:r>
              <a:rPr lang="zh-CN" alt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姓名</a:t>
            </a:r>
            <a:r>
              <a:rPr 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刘佳</a:t>
            </a:r>
            <a:r>
              <a:rPr lang="zh-CN" alt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霖</a:t>
            </a:r>
            <a:endParaRPr lang="zh-CN" altLang="en-US" sz="1400" b="0" i="0" u="none" strike="noStrike">
              <a:solidFill>
                <a:srgbClr val="D6E0E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553200" y="51308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" y="5613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专业班级：</a:t>
            </a:r>
            <a:r>
              <a:rPr lang="zh-CN" alt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</a:t>
            </a:r>
            <a:r>
              <a:rPr lang="en-US" altLang="zh-CN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2515</a:t>
            </a:r>
            <a:endParaRPr lang="en-US" altLang="zh-CN" sz="1400" b="0" i="0" u="none" strike="noStrike">
              <a:solidFill>
                <a:srgbClr val="D6E0E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553200" y="5613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答辩日期：2026 年 9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604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778000" y="8382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416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89000" y="1752600"/>
            <a:ext cx="88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177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项目介绍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969000" y="1841500"/>
            <a:ext cx="541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建设背景、定位目标、功能全景与成果规模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161">
            <a:off x="889004" y="2482850"/>
            <a:ext cx="1049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89000" y="2641600"/>
            <a:ext cx="88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2667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项目技术栈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969000" y="2730500"/>
            <a:ext cx="541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前后端技术选型、数据存储与关键组件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161">
            <a:off x="889004" y="3371850"/>
            <a:ext cx="1049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89000" y="3530600"/>
            <a:ext cx="88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3556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项目实现思路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969000" y="3619500"/>
            <a:ext cx="541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总体架构、分层链路、数据模型与核心业务流程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161">
            <a:off x="889004" y="4260850"/>
            <a:ext cx="1049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89000" y="4419600"/>
            <a:ext cx="88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05000" y="444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问题及解决方案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969000" y="4508500"/>
            <a:ext cx="541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数据一致性、权限模型、缓存降级与现场评审难题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161">
            <a:off x="889004" y="5149850"/>
            <a:ext cx="1049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89000" y="5308600"/>
            <a:ext cx="88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905000" y="5334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收获与总结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969000" y="5397500"/>
            <a:ext cx="541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能力成长、工程沉淀、不足与后续展望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4161">
            <a:off x="889004" y="6038850"/>
            <a:ext cx="1049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038">
                <a:alpha val="100000"/>
              </a:srgbClr>
            </a:gs>
            <a:gs pos="100000">
              <a:srgbClr val="1F3A5F">
                <a:alpha val="100000"/>
              </a:srgbClr>
            </a:gs>
          </a:gsLst>
          <a:lin ang="1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1905000"/>
            <a:ext cx="406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C9A66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5371822">
            <a:off x="3797300" y="3028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0" y="23622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OVERVIEW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0" y="2768600"/>
            <a:ext cx="584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项目介绍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0" y="3632200"/>
            <a:ext cx="59182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B8C8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这是一个什么样的系统，面向谁、解决什么问题，以及目前做到了什么程度。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　项目介绍　·　建设背景与意义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914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建设背景与意义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12800" y="16256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建设背景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812879" y="19494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812800" y="2159000"/>
            <a:ext cx="515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政策驱动：治理现代化的时代要求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2489200"/>
            <a:ext cx="51562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紧扣学校“十四五”规划中深化内部治理、推进管理数字化转型的目标，将组织人事工作纳入智慧校园“一张网、一平台、一门户”整体框架。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3403600"/>
            <a:ext cx="515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现实痛点：传统人事管理方式滞后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" y="3733800"/>
            <a:ext cx="51562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干部档案分散维护、任免依赖纸质流转、考核监督难以留痕，跨部门数据不一致，学校选人用人缺少统一的数据支撑。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4648200"/>
            <a:ext cx="515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技术契机：成熟 Web 技术栈支撑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" y="4978400"/>
            <a:ext cx="51562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前后端分离、MyBatis-Plus、Spring Security 与 JWT 等技术成熟稳定，使干部业务全流程线上化、全程可追溯成为可能。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89829">
            <a:off x="4203700" y="3816359"/>
            <a:ext cx="429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705600" y="1625600"/>
            <a:ext cx="4673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建设意义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85925">
            <a:off x="6705679" y="19494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/>
        </p:nvSpPr>
        <p:spPr>
          <a:xfrm>
            <a:off x="6705600" y="2184400"/>
            <a:ext cx="4673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250" b="1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党管干部、规范留痕：</a:t>
            </a:r>
            <a:r>
              <a:rPr lang="en-US" sz="12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把动议、推荐、考察、决定、公示、任职全流程固化到系统，任免过程规范透明、可追溯。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705600" y="3505200"/>
            <a:ext cx="46736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250" b="1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一体化协同：</a:t>
            </a:r>
            <a:r>
              <a:rPr lang="en-US" sz="12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以干部档案为核心打通组织、任免、调配、考核、监督，实现“数据一个库、业务一条链、审批一个口”。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705600" y="4851400"/>
            <a:ext cx="46736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250" b="1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辅助科学决策：</a:t>
            </a:r>
            <a:r>
              <a:rPr lang="en-US" sz="12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实时结构分析与红橙黄分级预警，为学校党委选人用人和干部队伍建设提供数据支撑。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131">
            <a:off x="812804" y="6343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22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　项目介绍　·　定位与目标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914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项目定位与建设目标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12800" y="1625600"/>
            <a:ext cx="10566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50" b="0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面向高校组织人事部门的</a:t>
            </a:r>
            <a:r>
              <a:rPr lang="en-US" sz="155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一体化干部管理平台</a:t>
            </a:r>
            <a:r>
              <a:rPr lang="en-US" sz="1550" b="0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：以干部人事档案数据为底座，覆盖干部“选、育、管、用”全生命周期，服务高素质专业化干部队伍建设。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800" y="2489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建设方向：三个“一”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895600"/>
            <a:ext cx="3098800" cy="1168400"/>
          </a:xfrm>
          <a:prstGeom prst="roundRect">
            <a:avLst>
              <a:gd name="adj" fmla="val 0"/>
            </a:avLst>
          </a:prstGeom>
          <a:solidFill>
            <a:srgbClr val="142A49">
              <a:alpha val="45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073400"/>
            <a:ext cx="2743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数据一个库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54400"/>
            <a:ext cx="274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51 张表统一建模，干部档案作为唯一事实数据源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013200" y="327660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46600" y="2895600"/>
            <a:ext cx="3098800" cy="1168400"/>
          </a:xfrm>
          <a:prstGeom prst="roundRect">
            <a:avLst>
              <a:gd name="adj" fmla="val 0"/>
            </a:avLst>
          </a:prstGeom>
          <a:solidFill>
            <a:srgbClr val="142A49">
              <a:alpha val="45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749800" y="3073400"/>
            <a:ext cx="2743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业务一条链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49800" y="3454400"/>
            <a:ext cx="274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任免、调配、考核、监督业务协同、状态联动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747000" y="3276600"/>
            <a:ext cx="45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80400" y="2895600"/>
            <a:ext cx="3098800" cy="1168400"/>
          </a:xfrm>
          <a:prstGeom prst="roundRect">
            <a:avLst>
              <a:gd name="adj" fmla="val 0"/>
            </a:avLst>
          </a:prstGeom>
          <a:solidFill>
            <a:srgbClr val="142A49">
              <a:alpha val="45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483600" y="3073400"/>
            <a:ext cx="2743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审批一个口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83600" y="3454400"/>
            <a:ext cx="274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自助申报统一受理、分级审批，结果自动回写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" y="44704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覆盖干部“选、育、管、用”业务闭环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131">
            <a:off x="812804" y="4845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2800" y="49784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 · 选拔任用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" y="5334000"/>
            <a:ext cx="2413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民主推荐、干部任免全流程、后备干部库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454400" y="49784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育 · 培养锻炼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454400" y="5334000"/>
            <a:ext cx="2413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教育培训、挂职锻炼、后备干部培养跟踪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096000" y="49784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 · 考核监督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096000" y="5334000"/>
            <a:ext cx="2413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年度考核、民主测评、平板投票、分级预警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737600" y="4978400"/>
            <a:ext cx="2641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· 调配日常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737600" y="5334000"/>
            <a:ext cx="26416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调配、职级晋升、证照出境休假等日常事务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4131">
            <a:off x="812804" y="6343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22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　项目介绍　·　功能模块全景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16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七大功能域覆盖干部管理全业务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12800" y="1600200"/>
          <a:ext cx="10566400" cy="4622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76400"/>
                <a:gridCol w="8890000"/>
              </a:tblGrid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核心功能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100000"/>
                      </a:srgbClr>
                    </a:solidFill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干部管理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13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干部档案增删改查、批量导入导出、多条件筛选排序，在职 / 离退休 / 调出 / 辞职分库，后备干部入库与培养跟踪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组织机构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13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机构树形管理、编制数与实有人数实时维护、班子成员任职登记、职务层次与职级统一管理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干部业务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13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任免全流程、调动转任、职级晋升、考察登记、政策法规台账，以及干部档案更正自助申报审批闭环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监督考核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13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年度考核、民主测评、平板评审投票与手写签字留证、廉政信访、个人事项、红橙黄分级预警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日常事务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13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证照、出境记录、休假、教育培训、挂职锻炼，以及请假 / 培训 / 出国（境）等干部自助申报审批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统计分析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13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年龄、性别、学历、政治面貌、职务层次结构图表分析，机构干部统计表（基于 ECharts 实现）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系统管理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13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用户与注册审批、按账号模块授权、国标字典、操作日志与登录日志、按用户类型的数据权限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812800" y="63246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414000" y="63246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/ 22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　项目介绍　·　成果规模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16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成果规模：可运行的完整全栈系统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12800" y="16256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代码与数据规模（对项目源码与 SQL 脚本扫描统计）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28647">
            <a:off x="812826" y="21018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812800" y="2235200"/>
            <a:ext cx="1752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2895600"/>
            <a:ext cx="167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张数据表</a:t>
            </a:r>
            <a:b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统一建模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8647">
            <a:off x="2578126" y="21018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2578100" y="2235200"/>
            <a:ext cx="1752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297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578100" y="2895600"/>
            <a:ext cx="167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 Java 类</a:t>
            </a:r>
            <a:b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分层清晰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8647">
            <a:off x="4343426" y="21018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" name="AutoShape 13"/>
          <p:cNvSpPr/>
          <p:nvPr/>
        </p:nvSpPr>
        <p:spPr>
          <a:xfrm>
            <a:off x="4343400" y="2235200"/>
            <a:ext cx="1752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43400" y="2895600"/>
            <a:ext cx="167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 Controller</a:t>
            </a:r>
            <a:b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REST 接口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28647">
            <a:off x="6108726" y="21018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/>
        </p:nvSpPr>
        <p:spPr>
          <a:xfrm>
            <a:off x="6108700" y="2235200"/>
            <a:ext cx="1752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34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08700" y="2895600"/>
            <a:ext cx="167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 Vue 页面</a:t>
            </a:r>
            <a:b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业务界面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28647">
            <a:off x="7874026" y="21018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9" name="AutoShape 19"/>
          <p:cNvSpPr/>
          <p:nvPr/>
        </p:nvSpPr>
        <p:spPr>
          <a:xfrm>
            <a:off x="7874000" y="2235200"/>
            <a:ext cx="1752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2.57万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874000" y="2895600"/>
            <a:ext cx="167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行前后端代码</a:t>
            </a:r>
            <a:b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手写实现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5092">
            <a:off x="9639323" y="2101850"/>
            <a:ext cx="1739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2" name="AutoShape 22"/>
          <p:cNvSpPr/>
          <p:nvPr/>
        </p:nvSpPr>
        <p:spPr>
          <a:xfrm>
            <a:off x="9639300" y="2235200"/>
            <a:ext cx="1752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639300" y="2895600"/>
            <a:ext cx="167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大业务模块</a:t>
            </a:r>
            <a:b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协同联动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4131">
            <a:off x="812804" y="3625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12800" y="3810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前后端代码量构成（单位：行）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" y="4216400"/>
            <a:ext cx="4356100" cy="279400"/>
          </a:xfrm>
          <a:prstGeom prst="roundRect">
            <a:avLst>
              <a:gd name="adj" fmla="val 0"/>
            </a:avLst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168900" y="4216400"/>
            <a:ext cx="6210300" cy="279400"/>
          </a:xfrm>
          <a:prstGeom prst="roundRect">
            <a:avLst>
              <a:gd name="adj" fmla="val 0"/>
            </a:avLst>
          </a:prstGeom>
          <a:solidFill>
            <a:srgbClr val="5F7A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12800" y="4572000"/>
            <a:ext cx="43561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■ 后端 Java　10,591 行（41%）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168900" y="4572000"/>
            <a:ext cx="62103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■ 前端 Vue / JS　15,112 行（59%）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12800" y="51308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工程化配套与可运行性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12800" y="5486400"/>
            <a:ext cx="10566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Knife4j 在线接口文档、统一 Result 返回与全局异常处理、Windows 一键启动脚本、内置便携 Maven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12800" y="5867400"/>
            <a:ext cx="10566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提供初始化脚本与可重复演示数据（27 个机构、约 470 份干部档案），支持 Nginx 局域网平板部署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/ 22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038">
                <a:alpha val="100000"/>
              </a:srgbClr>
            </a:gs>
            <a:gs pos="100000">
              <a:srgbClr val="1F3A5F">
                <a:alpha val="100000"/>
              </a:srgbClr>
            </a:gs>
          </a:gsLst>
          <a:lin ang="1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1905000"/>
            <a:ext cx="406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C9A66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5371822">
            <a:off x="3797300" y="3028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0" y="23622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TECH STACK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0" y="2768600"/>
            <a:ext cx="584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项目技术栈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0" y="3632200"/>
            <a:ext cx="59182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B8C8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前后端如何选型、各组件分别承担什么职责，以及为什么这样组合。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　项目技术栈　·　分层选型总览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技术栈总览：前后端分离的五层结构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12800" y="1600200"/>
          <a:ext cx="10566400" cy="4648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4724400"/>
                <a:gridCol w="1905000"/>
                <a:gridCol w="2413000"/>
              </a:tblGrid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技术选型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版本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承担职责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前端展示层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Vue 3 + Vite、Element Plus、Pinia、Vue Router、ECharts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5F7A9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3.4 / 5.4 / 2.7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单页应用、组件化界面、状态管理、可视化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接口接入层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Axios + Spring MVC（RESTful 接口，统一 /api 前缀）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5F7A9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HTTP / JSON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Bearer 令牌注入、请求拦截、跨域处理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后端框架层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Spring Boot、Spring Security、JWT（jjwt）、Spring AOP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5F7A9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3.2.5 / 0.12.5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IoC 容器、安全过滤链、无状态认证、日志切面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持久层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MyBatis-Plus、baomidou dynamic-datasource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5F7A9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3.5.5 / 4.3.1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ORM、分页与逻辑删除、多数据源热切换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数据存储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MySQL 主库、Redis 缓存（可选增强）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5F7A9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8.0 / 7.0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关系型数据持久化；缓存可自动降级内存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3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效率组件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Hutool、EasyExcel + Apache POI、Knife4j（OpenAPI3）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5F7A9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5.8.25 / 3.3.3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工具集、Excel 导入导出、在线接口文档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/ 22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　项目技术栈　·　后端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后端关键技术：Spring Boot 生态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12800" y="1574800"/>
          <a:ext cx="10566400" cy="4724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632200"/>
                <a:gridCol w="6934200"/>
              </a:tblGrid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技术（版本）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在项目中承担的职责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Spring Boot 3.2.5 / Java 17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后端主体框架，自动装配、内嵌 Tomcat，支撑 Controller-Service-Mapper 分层开发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Spring Security + JWT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无状态登录认证与接口鉴权，过滤器校验令牌，未登录返回 401、越权返回 403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MyBatis-Plus 3.5.5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单表 CRUD 与分页插件、逻辑删除、MetaObjectHandler 自动填充创建人 / 时间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dynamic-datasource 4.3.1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运行期数据源路由热切换、库表结构探测与自动对齐，对业务 Mapper 透明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Redis + CacheStore 门面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登录失败节流等缓存；探测不到 Redis 时自动降级为进程内存，无需强制部署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EasyExcel + Apache POI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干部档案的批量导入导出与 Excel 报表，解决大数据量下的内存占用问题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Spring AOP + Hutool + Knife4j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AOP 切面记录操作日志；Hutool 提供工具集；Knife4j 生成 OpenAPI3 在线接口文档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/ 22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　项目技术栈　·　前端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前端关键技术：Vue 3 现代工程化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12800" y="1574800"/>
          <a:ext cx="10566400" cy="4724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632200"/>
                <a:gridCol w="6934200"/>
              </a:tblGrid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技术（版本）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在项目中承担的职责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Vue 3.4（Composition API）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以组合式 API 组件化构建 34 个业务页面，响应式数据驱动视图更新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Vite 5.4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极速冷启动与模块热更新的构建工具，开发环境代理 /api 到后端 8080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Element Plus 2.7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表格、表单、弹窗、菜单、日期选择等企业级 UI 组件，统一政务蓝主题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Pinia 2.1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集中管理登录用户、模块权限与菜单状态，token 与服务器地址持久化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Vue Router 4.3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路由表与全局前置守卫校验登录态，/tablet 提供平板免登录投票页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ECharts 5.5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干部年龄、性别、学历、政治面貌、职务层次等结构分析图表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142A4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Axios / xlsx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A49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E4C5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Axios 拦截器统一注入 Bearer、处理 401 跳登录；xlsx 在前端导出表格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/ 22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038">
                <a:alpha val="100000"/>
              </a:srgbClr>
            </a:gs>
            <a:gs pos="100000">
              <a:srgbClr val="1F3A5F">
                <a:alpha val="100000"/>
              </a:srgbClr>
            </a:gs>
          </a:gsLst>
          <a:lin ang="1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1905000"/>
            <a:ext cx="406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C9A66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5371822">
            <a:off x="3797300" y="3028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0" y="23622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DESIGN &amp; IMPLEMENTATION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0" y="2768600"/>
            <a:ext cx="584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项目实现思路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0" y="3632200"/>
            <a:ext cx="59182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B8C8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总体架构如何分层、数据如何建模，核心业务流程与安全机制怎样落地。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项目实现思路　·　总体架构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总体架构：前后端分离的六层结构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62" r="62"/>
          <a:stretch>
            <a:fillRect/>
          </a:stretch>
        </p:blipFill>
        <p:spPr>
          <a:xfrm>
            <a:off x="1905000" y="1574800"/>
            <a:ext cx="8382000" cy="4432300"/>
          </a:xfrm>
          <a:prstGeom prst="rect">
            <a:avLst/>
          </a:prstGeom>
          <a:noFill/>
          <a:ln w="12700" cap="flat" cmpd="sng">
            <a:solidFill>
              <a:srgbClr val="142A49">
                <a:alpha val="18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12800" y="6121400"/>
            <a:ext cx="10566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 1　系统总体技术架构（依据源码目录与依赖自动梳理）：终端层 → 前端层 → 接入层 → 框架层 → 业务模块层 → 数据层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 / 22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项目实现思路　·　分层调用链路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后端分层：统一的 Controller→Service→Mapper 链路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108" b="108"/>
          <a:stretch>
            <a:fillRect/>
          </a:stretch>
        </p:blipFill>
        <p:spPr>
          <a:xfrm>
            <a:off x="812800" y="1600200"/>
            <a:ext cx="2501900" cy="4546600"/>
          </a:xfrm>
          <a:prstGeom prst="rect">
            <a:avLst/>
          </a:prstGeom>
          <a:noFill/>
          <a:ln w="12700" cap="flat" cmpd="sng">
            <a:solidFill>
              <a:srgbClr val="142A49">
                <a:alpha val="18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12800" y="6197600"/>
            <a:ext cx="25019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 2　模块调用链路（节选）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759200" y="16256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四层职责，一条固定调用方向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759200" y="20828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Controller 控制层　51 个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759200" y="2387600"/>
            <a:ext cx="762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接收请求、参数校验，施加模块权限与数据范围约束，返回统一 Result。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759200" y="29210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Service 业务层　接口 + Impl 实现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59200" y="3225800"/>
            <a:ext cx="762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承载业务逻辑与事务边界，跨表联动、档案状态回写都在此统一编排。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759200" y="37592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Mapper 持久层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759200" y="4064000"/>
            <a:ext cx="762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继承 MyBatis-Plus BaseMapper 获得通用 CRUD，复杂统计用注解 / XML 编写 SQL。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59200" y="45974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Entity 实体层　绑定 51 张表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59200" y="4902200"/>
            <a:ext cx="762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@TableName 绑定数据表，BaseEntity 统一创建人 / 时间与逻辑删除字段。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5729">
            <a:off x="3759205" y="55308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759200" y="56896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按业务域分包（cadre / organization / appointment / assessment 等 10 个模块），模块内高内聚，模块之间只通过 Service 接口协作。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 / 22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项目实现思路　·　数据库设计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数据库设计：以干部档案为核心的关系模型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23" r="23"/>
          <a:stretch>
            <a:fillRect/>
          </a:stretch>
        </p:blipFill>
        <p:spPr>
          <a:xfrm>
            <a:off x="812800" y="1600200"/>
            <a:ext cx="2273300" cy="4546600"/>
          </a:xfrm>
          <a:prstGeom prst="rect">
            <a:avLst/>
          </a:prstGeom>
          <a:noFill/>
          <a:ln w="12700" cap="flat" cmpd="sng">
            <a:solidFill>
              <a:srgbClr val="142A49">
                <a:alpha val="18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12800" y="6197600"/>
            <a:ext cx="22733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 3　数据库 ER 图（节选）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759200" y="16256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51 张表，按 10 个业务域组织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759200" y="19812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干部档案、组织机构、任免、考核、日常事务、监督、调配晋升、统计、系统管理等。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759200" y="25654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设计原则一　单一事实源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759200" y="28702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cadre_info 干部档案为核心，任免 / 调配 / 考核等业务表以 cadre_id 关联。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59200" y="33782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设计原则二　统一审计基类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759200" y="36830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BaseEntity 统一下发创建人 / 时间、更新人 / 时间，deleted 标记逻辑删除。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759200" y="41910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设计原则三　字典标准化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59200" y="44958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性别、民族、政治面貌、学历等枚举统一走 sys_dict 国标字典，避免硬编码。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59200" y="50038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设计原则四　现状与历史分离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759200" y="5308600"/>
            <a:ext cx="762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任免、调配、晋升均保留独立记录表，档案只存“当前状态”，既保证查询高效，又能回溯完整履历。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5729">
            <a:off x="3759205" y="60388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3759200" y="61722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建库脚本 sql/init.sql，演示数据 sql/seed-demo.sql，可重复执行。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 / 22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项目实现思路　·　核心业务链路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核心链路：干部任免六阶段全流程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12800" y="1778000"/>
            <a:ext cx="1625600" cy="838200"/>
          </a:xfrm>
          <a:prstGeom prst="roundRect">
            <a:avLst>
              <a:gd name="adj" fmla="val 0"/>
            </a:avLst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12800" y="1905000"/>
            <a:ext cx="162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159000"/>
            <a:ext cx="1625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438400" y="2006600"/>
            <a:ext cx="15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590800" y="1778000"/>
            <a:ext cx="1625600" cy="838200"/>
          </a:xfrm>
          <a:prstGeom prst="roundRect">
            <a:avLst>
              <a:gd name="adj" fmla="val 0"/>
            </a:avLst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590800" y="1905000"/>
            <a:ext cx="162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590800" y="2159000"/>
            <a:ext cx="1625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民主推荐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216400" y="2006600"/>
            <a:ext cx="15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68800" y="1778000"/>
            <a:ext cx="1625600" cy="838200"/>
          </a:xfrm>
          <a:prstGeom prst="roundRect">
            <a:avLst>
              <a:gd name="adj" fmla="val 0"/>
            </a:avLst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68800" y="1905000"/>
            <a:ext cx="162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68800" y="2159000"/>
            <a:ext cx="1625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组织考察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994400" y="2006600"/>
            <a:ext cx="15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46800" y="1778000"/>
            <a:ext cx="1625600" cy="838200"/>
          </a:xfrm>
          <a:prstGeom prst="roundRect">
            <a:avLst>
              <a:gd name="adj" fmla="val 0"/>
            </a:avLst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146800" y="1905000"/>
            <a:ext cx="162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46800" y="2159000"/>
            <a:ext cx="1625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讨论决定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772400" y="2006600"/>
            <a:ext cx="15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924800" y="1778000"/>
            <a:ext cx="1625600" cy="838200"/>
          </a:xfrm>
          <a:prstGeom prst="roundRect">
            <a:avLst>
              <a:gd name="adj" fmla="val 0"/>
            </a:avLst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924800" y="1905000"/>
            <a:ext cx="162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924800" y="2159000"/>
            <a:ext cx="1625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任前公示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50400" y="2006600"/>
            <a:ext cx="15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702800" y="1778000"/>
            <a:ext cx="1625600" cy="838200"/>
          </a:xfrm>
          <a:prstGeom prst="roundRect">
            <a:avLst>
              <a:gd name="adj" fmla="val 0"/>
            </a:avLst>
          </a:prstGeom>
          <a:solidFill>
            <a:srgbClr val="AC86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702800" y="1905000"/>
            <a:ext cx="162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6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702800" y="2159000"/>
            <a:ext cx="1625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任职备案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" y="2946400"/>
            <a:ext cx="10566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流程闭环：前置校验 — 过程留痕 — 结果回写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3121">
            <a:off x="812812" y="3422650"/>
            <a:ext cx="332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0" name="AutoShape 30"/>
          <p:cNvSpPr/>
          <p:nvPr/>
        </p:nvSpPr>
        <p:spPr>
          <a:xfrm>
            <a:off x="812800" y="3556000"/>
            <a:ext cx="3327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前置资格校验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12800" y="3911600"/>
            <a:ext cx="3327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启动任免或职级晋升前，自动核验该干部近三年年度考核结果，未达标直接拦截，把干部选拔的制度规则固化进系统。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3121">
            <a:off x="4432312" y="3422650"/>
            <a:ext cx="332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3" name="AutoShape 33"/>
          <p:cNvSpPr/>
          <p:nvPr/>
        </p:nvSpPr>
        <p:spPr>
          <a:xfrm>
            <a:off x="4432300" y="3556000"/>
            <a:ext cx="3327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全过程留痕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432300" y="3911600"/>
            <a:ext cx="3327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六个阶段各自建表，分别保存会议票决、推荐票数、考察材料、公示内容等信息，每一步操作都可回溯、可审计。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13121">
            <a:off x="8051812" y="3422650"/>
            <a:ext cx="332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6" name="AutoShape 36"/>
          <p:cNvSpPr/>
          <p:nvPr/>
        </p:nvSpPr>
        <p:spPr>
          <a:xfrm>
            <a:off x="8051800" y="3556000"/>
            <a:ext cx="3327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结果自动回写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051800" y="3911600"/>
            <a:ext cx="3327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任职备案通过后自动更新干部档案现任职务、职务层次与在岗状态；调配、晋升同此机制，删除记录则按剩余记录重算状态。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12800" y="6019800"/>
            <a:ext cx="1056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设计要点：以干部档案为单一事实源，由业务记录驱动档案状态，杜绝多处维护造成的数据不一致。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 / 22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项目实现思路　·　安全与权限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认证授权：JWT 无状态认证 + 两级权限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12800" y="15748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一次请求的认证链路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12800" y="1905000"/>
            <a:ext cx="1930400" cy="660400"/>
          </a:xfrm>
          <a:prstGeom prst="roundRect">
            <a:avLst>
              <a:gd name="adj" fmla="val 0"/>
            </a:avLst>
          </a:prstGeom>
          <a:solidFill>
            <a:srgbClr val="142A4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63600" y="1905000"/>
            <a:ext cx="1828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账号密码登录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743200" y="2044700"/>
            <a:ext cx="22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71800" y="1905000"/>
            <a:ext cx="1930400" cy="660400"/>
          </a:xfrm>
          <a:prstGeom prst="roundRect">
            <a:avLst>
              <a:gd name="adj" fmla="val 0"/>
            </a:avLst>
          </a:prstGeom>
          <a:solidFill>
            <a:srgbClr val="142A4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022600" y="1905000"/>
            <a:ext cx="1828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签发 JWT（HS256）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902200" y="2044700"/>
            <a:ext cx="22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130800" y="1905000"/>
            <a:ext cx="1930400" cy="660400"/>
          </a:xfrm>
          <a:prstGeom prst="roundRect">
            <a:avLst>
              <a:gd name="adj" fmla="val 0"/>
            </a:avLst>
          </a:prstGeom>
          <a:solidFill>
            <a:srgbClr val="142A4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181600" y="1905000"/>
            <a:ext cx="1828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请求携带 Bearer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061200" y="2044700"/>
            <a:ext cx="22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289800" y="1905000"/>
            <a:ext cx="1930400" cy="660400"/>
          </a:xfrm>
          <a:prstGeom prst="roundRect">
            <a:avLst>
              <a:gd name="adj" fmla="val 0"/>
            </a:avLst>
          </a:prstGeom>
          <a:solidFill>
            <a:srgbClr val="142A4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340600" y="1905000"/>
            <a:ext cx="1828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过滤器校验令牌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220200" y="2044700"/>
            <a:ext cx="22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48800" y="1905000"/>
            <a:ext cx="1930400" cy="660400"/>
          </a:xfrm>
          <a:prstGeom prst="roundRect">
            <a:avLst>
              <a:gd name="adj" fmla="val 0"/>
            </a:avLst>
          </a:prstGeom>
          <a:solidFill>
            <a:srgbClr val="AC86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499600" y="1905000"/>
            <a:ext cx="1828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写入上下文放行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" y="2895600"/>
            <a:ext cx="5156200" cy="2768600"/>
          </a:xfrm>
          <a:prstGeom prst="roundRect">
            <a:avLst>
              <a:gd name="adj" fmla="val 0"/>
            </a:avLst>
          </a:prstGeom>
          <a:solidFill>
            <a:srgbClr val="142A49">
              <a:alpha val="45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1" name="Connector 21"/>
          <p:cNvCxnSpPr/>
          <p:nvPr/>
        </p:nvCxnSpPr>
        <p:spPr>
          <a:xfrm rot="-8467">
            <a:off x="812808" y="2889250"/>
            <a:ext cx="515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2" name="AutoShape 22"/>
          <p:cNvSpPr/>
          <p:nvPr/>
        </p:nvSpPr>
        <p:spPr>
          <a:xfrm>
            <a:off x="1041400" y="3073400"/>
            <a:ext cx="4724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模块权限　功能级访问控制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41400" y="3505200"/>
            <a:ext cx="47244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生效顺序：系统管理员全通 → 账号单独授权优先 → 否则回退该用户类型的内置默认模板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菜单对全员可见，未授权账号进入页面时即被拦截并提示</a:t>
            </a:r>
            <a:endParaRPr lang="en-US" sz="1150" b="0" i="0" u="none" strike="noStrike">
              <a:solidFill>
                <a:srgbClr val="3E4C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收敛原 sys_role 角色层，权限口径唯一，更易维护</a:t>
            </a:r>
            <a:endParaRPr lang="en-US" sz="1150" b="0" i="0" u="none" strike="noStrike">
              <a:solidFill>
                <a:srgbClr val="3E4C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3000" y="2895600"/>
            <a:ext cx="5156200" cy="2768600"/>
          </a:xfrm>
          <a:prstGeom prst="roundRect">
            <a:avLst>
              <a:gd name="adj" fmla="val 0"/>
            </a:avLst>
          </a:prstGeom>
          <a:solidFill>
            <a:srgbClr val="142A49">
              <a:alpha val="45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5" name="Connector 25"/>
          <p:cNvCxnSpPr/>
          <p:nvPr/>
        </p:nvCxnSpPr>
        <p:spPr>
          <a:xfrm rot="-8467">
            <a:off x="6223008" y="2889250"/>
            <a:ext cx="515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6" name="AutoShape 26"/>
          <p:cNvSpPr/>
          <p:nvPr/>
        </p:nvSpPr>
        <p:spPr>
          <a:xfrm>
            <a:off x="6451600" y="3073400"/>
            <a:ext cx="4724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数据权限　行级可见范围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51600" y="3505200"/>
            <a:ext cx="47244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按用户类型自动收敛：1~4 看全量 / 5 看本级及下级 / 6 仅本部门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干部档案的分页、详情、导出均实时套用数据范围</a:t>
            </a:r>
            <a:endParaRPr lang="en-US" sz="1150" b="0" i="0" u="none" strike="noStrike">
              <a:solidFill>
                <a:srgbClr val="3E4C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普通干部只收到本人相关预警与本人申报的审批结果</a:t>
            </a:r>
            <a:endParaRPr lang="en-US" sz="1150" b="0" i="0" u="none" strike="noStrike">
              <a:solidFill>
                <a:srgbClr val="3E4C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12800" y="5867400"/>
            <a:ext cx="10566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安全加固：同一账号连续输错 5 次锁定 15 分钟（计数存 Redis，无 Redis 自动落内存）；通过 AOP 切面记录操作日志与登录日志。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 / 22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　项目实现思路　·　特色实现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两个有代表性的特色功能实现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12800" y="1625600"/>
            <a:ext cx="515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特色一　平板评审投票与签字留证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467">
            <a:off x="812808" y="1974850"/>
            <a:ext cx="515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12800" y="2133600"/>
            <a:ext cx="51562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200" b="1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</a:t>
            </a: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会议现场用局域网平板评审，独立 /tablet 页面免登录接入。</a:t>
            </a:r>
            <a:endParaRPr lang="en-US" sz="1100"/>
          </a:p>
          <a:p>
            <a:pPr marL="0" indent="0" algn="l">
              <a:lnSpc>
                <a:spcPct val="146000"/>
              </a:lnSpc>
            </a:pPr>
            <a:r>
              <a:rPr lang="en-US" sz="1200" b="1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两种票型：</a:t>
            </a: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评分式按指标逐项打分；表决式记录赞成 / 反对 / 弃权。</a:t>
            </a:r>
            <a:endParaRPr lang="en-US" sz="1200" b="0" i="0" u="none" strike="noStrike">
              <a:solidFill>
                <a:srgbClr val="3E4C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6000"/>
              </a:lnSpc>
            </a:pPr>
            <a:r>
              <a:rPr lang="en-US" sz="1200" b="1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签字留证：</a:t>
            </a: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手写签名生成图像，连同 MD5、设备 IP、时间戳一并入库存档。</a:t>
            </a:r>
            <a:endParaRPr lang="en-US" sz="1200" b="0" i="0" u="none" strike="noStrike">
              <a:solidFill>
                <a:srgbClr val="3E4C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6000"/>
              </a:lnSpc>
            </a:pPr>
            <a:r>
              <a:rPr lang="en-US" sz="1200" b="1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防篡改：</a:t>
            </a: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签字确认后该票不可再修改，管理端可随时查验签字与票决结果，保证现场评审的公信力。</a:t>
            </a:r>
            <a:endParaRPr lang="en-US" sz="1200" b="0" i="0" u="none" strike="noStrike">
              <a:solidFill>
                <a:srgbClr val="3E4C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90397">
            <a:off x="3822700" y="3892559"/>
            <a:ext cx="454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324600" y="1625600"/>
            <a:ext cx="5054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特色二　数据库运行时热切换与自动对齐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637">
            <a:off x="6324608" y="1974850"/>
            <a:ext cx="5054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324600" y="2133600"/>
            <a:ext cx="50546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6000"/>
              </a:lnSpc>
              <a:defRPr/>
            </a:pPr>
            <a:r>
              <a:rPr lang="en-US" sz="1200" b="1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</a:t>
            </a: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同一前端免重启连接不同 MySQL 库，便于现场演示与环境迁移。</a:t>
            </a:r>
            <a:endParaRPr lang="en-US" sz="1100"/>
          </a:p>
          <a:p>
            <a:pPr marL="0" indent="0" algn="l">
              <a:lnSpc>
                <a:spcPct val="146000"/>
              </a:lnSpc>
            </a:pPr>
            <a:r>
              <a:rPr lang="en-US" sz="1200" b="1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三种探测：</a:t>
            </a: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结构一致直接切换；缺表则列出差异；库不存在则按 init.sql 自动创建 51 张表。</a:t>
            </a:r>
            <a:endParaRPr lang="en-US" sz="1200" b="0" i="0" u="none" strike="noStrike">
              <a:solidFill>
                <a:srgbClr val="3E4C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6000"/>
              </a:lnSpc>
            </a:pPr>
            <a:r>
              <a:rPr lang="en-US" sz="1200" b="1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防误操作：</a:t>
            </a: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目标库已存在项目表时拒绝对齐，切换前强制试连，失败自动保留原库。</a:t>
            </a:r>
            <a:endParaRPr lang="en-US" sz="1200" b="0" i="0" u="none" strike="noStrike">
              <a:solidFill>
                <a:srgbClr val="3E4C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6000"/>
              </a:lnSpc>
            </a:pPr>
            <a:r>
              <a:rPr lang="en-US" sz="1200" b="1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连接记忆：</a:t>
            </a:r>
            <a:r>
              <a:rPr lang="en-US" sz="120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切换结果写入 db-conn.json，后端重启自动恢复，基于 dynamic-datasource 对业务透明。</a:t>
            </a:r>
            <a:endParaRPr lang="en-US" sz="1200" b="0" i="0" u="none" strike="noStrike">
              <a:solidFill>
                <a:srgbClr val="3E4C5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 / 22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038">
                <a:alpha val="100000"/>
              </a:srgbClr>
            </a:gs>
            <a:gs pos="100000">
              <a:srgbClr val="1F3A5F">
                <a:alpha val="100000"/>
              </a:srgbClr>
            </a:gs>
          </a:gsLst>
          <a:lin ang="1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1905000"/>
            <a:ext cx="406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C9A66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5371822">
            <a:off x="3797300" y="3028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0" y="23622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PROBLEMS &amp; SOLUTIONS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0" y="2768600"/>
            <a:ext cx="584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问题及解决方案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0" y="3632200"/>
            <a:ext cx="59182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B8C8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开发中真正遇到的六个工程难题，以及对应的分析过程与解决办法。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　问题及解决方案　·　（上）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典型问题与解决方案（一）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-4131">
            <a:off x="812804" y="1568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12800" y="17018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1701800"/>
            <a:ext cx="406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　跨模块数据一致性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1955800"/>
            <a:ext cx="39624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任免、调配、晋升都要改干部档案的现任职务、职级与状态，若分散更新极易出现档案与业务记录不一致。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66297">
            <a:off x="5041900" y="2343181"/>
            <a:ext cx="129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918200" y="1701800"/>
            <a:ext cx="546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　单一事实源 + 统一回写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918200" y="1955800"/>
            <a:ext cx="5461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以干部档案为唯一事实源，业务审批通过后在 Service 层统一回写；调配记录增删改后按剩余记录重算状态；考核结果作为晋升与任免的前置校验。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131">
            <a:off x="812804" y="3143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12800" y="3276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276600"/>
            <a:ext cx="406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　权限模型臃肿、口径混乱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24000" y="3530600"/>
            <a:ext cx="39624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早期“角色 + 用户类型”双重叠加，授权口径不唯一，既难维护，也存在越权访问隐患。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66297">
            <a:off x="5041900" y="3917981"/>
            <a:ext cx="129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5918200" y="3276600"/>
            <a:ext cx="546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　两层权限、口径收敛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918200" y="3530600"/>
            <a:ext cx="5461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收敛为“用户类型内置模板 + 按账号单独授权”，功能权限与行级数据权限两层分离；菜单可见但进入页面即校验，权限口径唯一、可解释。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131">
            <a:off x="812804" y="4718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2800" y="4851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524000" y="4851400"/>
            <a:ext cx="406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　缓存依赖抬高部署门槛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24000" y="5105400"/>
            <a:ext cx="39624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登录失败节流等功能依赖 Redis，而普通机房或个人电脑未必安装 Redis，系统难以即开即用。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66297">
            <a:off x="5041900" y="5492781"/>
            <a:ext cx="129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5918200" y="4851400"/>
            <a:ext cx="546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　缓存门面 + 自动降级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918200" y="5105400"/>
            <a:ext cx="5461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自建 CacheStore 缓存门面，auto 模式优先使用 Redis，探测失败自动降级为进程内存，业务代码无感知，无 Redis 也能完整运行。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 / 22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08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　问题及解决方案　·　（下）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7874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42A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典型问题与解决方案（二）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39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-4131">
            <a:off x="812804" y="1568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12800" y="17018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1701800"/>
            <a:ext cx="406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　多套数据库切换成本高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1955800"/>
            <a:ext cx="39624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演示、联调、迁移要连接不同 MySQL，改配置重启繁琐，新库还要手工创建 51 张表。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66297">
            <a:off x="5041900" y="2343181"/>
            <a:ext cx="129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918200" y="1701800"/>
            <a:ext cx="546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　运行时热切换 + 自动对齐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918200" y="1955800"/>
            <a:ext cx="5461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dynamic-datasource 免重启切换：先探测结构（一致 / 缺表 / 无库三态），无库时一键按 init.sql 自动建表对齐，连接持久化记忆、重启自动恢复。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131">
            <a:off x="812804" y="3143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12800" y="3276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276600"/>
            <a:ext cx="406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　现场投票公信力与防篡改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24000" y="3530600"/>
            <a:ext cx="39624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纸质票统计慢，电子投票又容易被质疑代投、事后改票，评审结果的公信力难以保证。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66297">
            <a:off x="5041900" y="3917981"/>
            <a:ext cx="129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5918200" y="3276600"/>
            <a:ext cx="546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　双模式投票 + 签字锁票留证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918200" y="3530600"/>
            <a:ext cx="5461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平板端支持评分、表决两种票型；提交后手写签名，将签名图像、MD5、设备 IP、时间戳一并存档，签字后锁票不可更改，管理端可核验。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131">
            <a:off x="812804" y="4718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2800" y="4851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524000" y="4851400"/>
            <a:ext cx="406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F7A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　敏感档案的水平越权风险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24000" y="5105400"/>
            <a:ext cx="39624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干部档案含身份证号、家庭成员等隐私信息，一旦出现水平越权，后果严重。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66297">
            <a:off x="5041900" y="5492781"/>
            <a:ext cx="129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2A49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5918200" y="4851400"/>
            <a:ext cx="546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AC86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　查询层自动注入数据范围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918200" y="5105400"/>
            <a:ext cx="5461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3E4C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DataScopeHelper 按用户类型在查询层自动注入可见范围（全量 / 本级及下级 / 仅本部门），分页、详情、导出统一生效，普通用户仅能看到本人数据。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高校干部人事组织管理系统 · 答辩汇报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414000" y="64770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8C9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21 / 22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038">
                <a:alpha val="100000"/>
              </a:srgbClr>
            </a:gs>
            <a:gs pos="100000">
              <a:srgbClr val="1F3A5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588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　收获与总结　·　SUMMARY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12800" y="8382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项目收获、不足与展望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416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-8681">
            <a:off x="812808" y="16954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812800" y="18288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全栈工程能力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159000"/>
            <a:ext cx="50292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4D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独立完成前后端分离系统，熟练掌握 Spring Boot 3、Vue 3、MyBatis-Plus、JWT 等主流技术与协作流程。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4">
            <a:off x="6299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6299200" y="18288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复杂业务建模能力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99200" y="2159000"/>
            <a:ext cx="5080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4D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把干部“选、育、管、用”制度抽象为数据模型与状态流转，真正体会到业务驱动设计的含义。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681">
            <a:off x="812808" y="31178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812800" y="3251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工程化与容错思维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" y="3581400"/>
            <a:ext cx="50292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4D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通过单一数据源一致性、缓存降级、热切换防误操作等设计，学会为“异常情况”和长期可维护性而设计。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594">
            <a:off x="6299208" y="3117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AutoShape 15"/>
          <p:cNvSpPr/>
          <p:nvPr/>
        </p:nvSpPr>
        <p:spPr>
          <a:xfrm>
            <a:off x="6299200" y="3251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安全与规范意识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99200" y="3581400"/>
            <a:ext cx="5080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4D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系统实践认证授权、行级数据权限、操作留痕与接口文档，形成了较规范的分层开发习惯。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" y="4597400"/>
            <a:ext cx="10566400" cy="10922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66800" y="47498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不足与后续展望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66800" y="5105400"/>
            <a:ext cx="10058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D6E0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审批流程仍以固定阶段为主，后续可向可配置工作流演进；并计划补充 Redis 集群、国产化数据库适配与移动端体验优化。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131">
            <a:off x="812804" y="5962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2800" y="6146800"/>
            <a:ext cx="10566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我的汇报到此结束，恳请各位老师批评指正！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7095</Words>
  <Application>WPS 演示</Application>
  <PresentationFormat/>
  <Paragraphs>682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2</cp:revision>
  <dcterms:created xsi:type="dcterms:W3CDTF">2026-09-10T06:39:10Z</dcterms:created>
  <dcterms:modified xsi:type="dcterms:W3CDTF">2026-09-10T06:50:17Z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E5AFF55D7BC14DDEBF68C8AF23C26377_12</vt:lpwstr>
  </property>
  <property fmtid="{D5CDD505-2E9C-101B-9397-08002B2CF9AE}" pid="3" name="KSOProductBuildVer">
    <vt:lpwstr>2052-12.1.0.28505</vt:lpwstr>
  </property>
</Properties>
</file>